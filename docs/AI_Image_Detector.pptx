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02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XỬ LÝ DỮ LIỆU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ảnh được tạo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bởi mô hình AI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3657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Văn Minh </a:t>
            </a:r>
            <a:endParaRPr lang="vi-VN" sz="14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Anh Việt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phần Tiền xử lý dữ liệu  •  TS. Tạ Quang Chiểu  •  ĐH Thủy Lợi, </a:t>
            </a:r>
            <a:r>
              <a:rPr lang="vi-VN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2062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635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4206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88.000 ảnh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42062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635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4206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AI Generators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42062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635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4206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42062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6350">
            <a:solidFill>
              <a:srgbClr val="2D5A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12280" y="4206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XGBoost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&amp; Động lực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0058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698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nhận đúng ảnh thật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1005840"/>
            <a:ext cx="256032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63240" y="10698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$10.7B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063240" y="1554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Thiệt hại do deepfake (2024)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1005840"/>
            <a:ext cx="25603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10698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760720" y="15544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trưởng AI ảnh/năm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8412480" cy="2468880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4505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cần phát hiện ảnh AI?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788920"/>
            <a:ext cx="7955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AI ngày càng chân thực — khó phân biệt bằng mắt thường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gây thiệt hại tài chính trung bình $450.000/vụ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mô hình học sâu dễ bị đánh lừa bởi nén JPEG và biến thể generator mới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chọn hướng học máy cổ điển + đặc trưng thủ công để giải thích được kết quả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41832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051560"/>
            <a:ext cx="548640" cy="5486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xử lý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→ YCrCb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Crop 256×256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44368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68880" y="96012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20440" y="1051560"/>
            <a:ext cx="548640" cy="5486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60320" y="1645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đặc trưng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patches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57 features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93208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9280" y="1051560"/>
            <a:ext cx="548640" cy="5486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1645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242048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766560" y="96012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818120" y="1051560"/>
            <a:ext cx="548640" cy="5486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0" y="1645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560320"/>
            <a:ext cx="8503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26700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thiết kế then chốt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30906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Không dùng pixel thô: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23160" y="3090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học máy cần vector số → phải trích đặc trưng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566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YCrCb thay vì RGB: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23160" y="3566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sáng (Y) khỏi màu (Cr, Cb) → FFT &amp; texture tốt hơn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17720" y="30906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Center crop 256×256: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7960" y="3090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kích thước → so sánh đặc trưng công bằng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17720" y="3566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Patch 64×64: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37960" y="35661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artifact cục bộ — ảnh AI lộ lỗi không đều theo vùng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GenIMG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92024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đầu vào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822960"/>
            <a:ext cx="1920240" cy="9144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77440" y="886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37744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822960"/>
            <a:ext cx="19202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4840" y="886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3484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 lệ Fake/Real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822960"/>
            <a:ext cx="19202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886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Nhãn: Real/Fake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874520"/>
          <a:ext cx="5029200" cy="2331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Midjourney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SDv14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SDv15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VQDM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Wukong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42.326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7" name="Image 0" descr="/home/claude/img_class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783080"/>
            <a:ext cx="3474720" cy="3200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40680" y="50292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phân phối theo generator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xử lý — Quy trình 6 bước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932688"/>
            <a:ext cx="548640" cy="5486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932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EXIF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chỉnh hướng ảnh — tránh sai lệch texture &amp; biên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841248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0" y="932688"/>
            <a:ext cx="548640" cy="5486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0" y="932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46120" y="15361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20116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EXIF/ICC/XMP — ngăn model học shortcut từ nguồn gốc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841248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40880" y="932688"/>
            <a:ext cx="548640" cy="5486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0" y="932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80760" y="15361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kênh màu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20116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về RGB — thống nhất số kênh, loại alpha channel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71216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71600" y="2962656"/>
            <a:ext cx="548640" cy="5486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1600" y="2962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" y="35661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RGB→BGR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→YCrCb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04164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kênh sáng Y và màu Cr, Cb — tối ưu FFT &amp; texture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2871216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06240" y="2962656"/>
            <a:ext cx="548640" cy="5486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0" y="2962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46120" y="35661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Crop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256×256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46120" y="404164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kích thước — mọi ảnh cùng miền quan sát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2871216"/>
            <a:ext cx="2651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40880" y="2962656"/>
            <a:ext cx="548640" cy="5486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40880" y="2962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080760" y="35661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PNG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404164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tạo thêm artifact nén — bảo toàn tín hiệu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xử lý — Kết quả kiểm tra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so sánh trước / sau tiền xử lý (kết quả thực tế):</a:t>
            </a:r>
            <a:endParaRPr lang="en-US" sz="1100" dirty="0"/>
          </a:p>
        </p:txBody>
      </p:sp>
      <p:pic>
        <p:nvPicPr>
          <p:cNvPr id="5" name="Image 0" descr="/home/claude/img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15568"/>
            <a:ext cx="8412480" cy="1417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6974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EXIF (sample 4.200 ảnh — 300 ảnh/folder):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3072384"/>
            <a:ext cx="54864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3776" y="307238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— tất cả 7 generators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3776" y="329184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2.100 có EXIF  →  0,0%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00600" y="3072384"/>
            <a:ext cx="54864" cy="43891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28616" y="307238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ADM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928616" y="329184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300  →  1,3%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3639312"/>
            <a:ext cx="54864" cy="43891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3776" y="36393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Midjourney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3776" y="385876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300  →  6,3%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00600" y="3639312"/>
            <a:ext cx="5486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28616" y="36393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Software lộ generator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28616" y="385876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phát hiện  →  ✓ An toàn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4315968"/>
            <a:ext cx="8412480" cy="56692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440740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Toàn bộ ảnh fake không còn EXIF sau tiền xử lý. Ảnh real còn sót ~4,4% từ camera gốc — không ảnh hưởng đến model vì không có trường Software.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&amp; Train/Test Split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9202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86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42.326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Real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822960"/>
            <a:ext cx="19202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31720" y="886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33172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Fake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822960"/>
            <a:ext cx="1920240" cy="9144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43400" y="886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4340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 lệ Fake/Real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822960"/>
            <a:ext cx="192024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886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5508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giữ lại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19019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chia train/test (Stratified 80/20):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94560"/>
          <a:ext cx="4754880" cy="130454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Tập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Fake(+)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Real(–)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Tỉ lệ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33.611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320040" y="3364992"/>
            <a:ext cx="4754880" cy="14630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7200" y="34290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Per-generator split (train / test):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370332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ADM: Real 4.663 / 1.166  |  Fake 4.800 / 1.200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57200" y="392277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GLIDE: Real 4.672 / 1.168  |  Fake 4.800 / 1.200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" y="414223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Midjourney: Real 4.303 / 1.076  |  Fake 4.800 / 1.200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57200" y="436168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SDv14: Real 4.663 / 1.166  |  Fake 4.800 / 1.200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458114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SDv15: Real 6.243 / 1.561  |  Fake 6.400 / 1.600</a:t>
            </a:r>
            <a:endParaRPr lang="en-US" sz="950" dirty="0"/>
          </a:p>
        </p:txBody>
      </p:sp>
      <p:pic>
        <p:nvPicPr>
          <p:cNvPr id="25" name="Image 0" descr="/home/claude/img_class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874520"/>
            <a:ext cx="374904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lựa chọn kỹ thuật tiền xử lý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97480" cy="3977640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974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YCrCb?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298448"/>
            <a:ext cx="247802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kênh sáng Y khỏi màu Cr, Cb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&amp; GLCM hoạt động tốt trên kênh 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quan Cr-Cb phát hiện bất thường màu ảnh AI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chuẩn sinh lý thị giác con người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868680"/>
            <a:ext cx="2697480" cy="3977640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54680" y="868680"/>
            <a:ext cx="26974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868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Center Crop?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64408" y="1298448"/>
            <a:ext cx="247802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nguyên cấu trúc pixel — không tạo artifact nội suy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làm thay đổi phổ tần số và texture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ảnh cùng miền 256×256 → so sánh công bằng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Nhược điểm: có thể mất tín hiệu rìa (đã ghi nhận)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868680"/>
            <a:ext cx="2697480" cy="3977640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89320" y="868680"/>
            <a:ext cx="26974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868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PNG Lossless?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9048" y="1298448"/>
            <a:ext cx="2478024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 tạo thêm artifact JPEG sau chuẩn hóa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nén chồng lên tín hiệu residual → nhiễu giả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toàn tín hiệu vi mô cho FFT và Laplacian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lưu trữ cao hơn nhưng chất lượng đặc trưng tốt hơn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trích xuất đặc trưng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41732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256×256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YCrCb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91640" y="1051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11680" y="868680"/>
            <a:ext cx="1417320" cy="8229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8686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Patches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29000" y="1051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49040" y="868680"/>
            <a:ext cx="14173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49040" y="8686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nhóm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66360" y="1051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0" y="868680"/>
            <a:ext cx="14173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0" y="8686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mean/std/p90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03720" y="1051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23760" y="868680"/>
            <a:ext cx="141732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23760" y="8686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chiều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FFT Spectrum &amp; Laplacian Residual — Real vs Fake</a:t>
            </a:r>
            <a:endParaRPr lang="en-US" sz="1100" dirty="0"/>
          </a:p>
        </p:txBody>
      </p:sp>
      <p:pic>
        <p:nvPicPr>
          <p:cNvPr id="19" name="Image 0" descr="/home/claude/img_fft_resid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176272"/>
            <a:ext cx="8503920" cy="2743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20040" y="49651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có phổ dàn đều + residual nhiều nhiễu tự nhiên → Fake có phổ tập trung tâm + residual mượt hơn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5 nhóm đặc trưng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54864" cy="5486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— Tần số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AI thường quá mượt (thiếu nhiễu tự nhiên) hoặc có mẫu tần số bất thường do quá trình diffusion/GAN sinh 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719072"/>
            <a:ext cx="54864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 — Texture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Micro-texture (da, tóc, bokeh) thường không thực tế trong ảnh AI — GLCM đo được sự khác biệt này qua 4 hướng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23744"/>
            <a:ext cx="54864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5237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— Laplacian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7980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thật tạo nhiễu cảm biến đặc trưng; ảnh AI tạo residual khác về phân phối entropy và kurtosis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328416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3284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Correlation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6027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thật có quan hệ thống kê nhất định giữa Y-Cr-Cb; ảnh AI có thể phá vỡ quan hệ liên kênh này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4133088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41330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407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std, skew, kurtosis — nền tảng bổ trợ, chi phí thấp, kết hợp với các nhóm khác tăng độ ổn định mô hình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chất lượng đặc trưng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/ Inf check: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961242"/>
              </p:ext>
            </p:extLst>
          </p:nvPr>
        </p:nvGraphicFramePr>
        <p:xfrm>
          <a:off x="228600" y="1097280"/>
          <a:ext cx="4846319" cy="822960"/>
        </p:xfrm>
        <a:graphic>
          <a:graphicData uri="http://schemas.openxmlformats.org/drawingml/2006/table">
            <a:tbl>
              <a:tblPr/>
              <a:tblGrid>
                <a:gridCol w="1016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3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Tập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Kích thước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Tỉ lệ 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X_train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68.681 × 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~0,09%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X_test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17.176 × 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~0,08%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166360" y="8229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 summary (thực tế):</a:t>
            </a:r>
            <a:endParaRPr lang="en-US" sz="1100" dirty="0"/>
          </a:p>
        </p:txBody>
      </p:sp>
      <p:pic>
        <p:nvPicPr>
          <p:cNvPr id="7" name="Image 0" descr="/home/claude/img_model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097280"/>
            <a:ext cx="3749040" cy="1691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290779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phối 6 features tiêu biểu — Real vs Fake (train set):</a:t>
            </a:r>
            <a:endParaRPr lang="en-US" sz="1100" dirty="0"/>
          </a:p>
        </p:txBody>
      </p:sp>
      <p:pic>
        <p:nvPicPr>
          <p:cNvPr id="9" name="Image 1" descr="/home/claude/img_feature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200400"/>
            <a:ext cx="8503920" cy="1737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0040" y="4974336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fft_high_low_ratio &amp; glcm_contrast: Real và Fake có phân phối tách biệt rõ → features phân biệt tốt  |  stat_std: phân phối chồng lấp nhiều hơn → features bổ trợ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mô hình phân loại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3657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1828800" cy="9144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325880"/>
            <a:ext cx="1828800" cy="9144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37744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Ổn định, giải thích được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Ít hyperparameter cần tuning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Accuracy thấp hơn XGBoost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868680"/>
            <a:ext cx="41605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4160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868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325880"/>
            <a:ext cx="18288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4632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325880"/>
            <a:ext cx="18288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12280" y="13898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1228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37744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Accuracy cao nhất trong pipeline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AUC 0.94 — phân biệt tốt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Chậm hơn khi huấn luyện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187952"/>
            <a:ext cx="850392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29768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chế: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83080" y="4297680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— model phân loại sai ảnh từ DALL-E/GPT-4V vì các generator này không có trong tập train GenIMG. Đây là giới hạn đã được ghi nhận trong báo cáo.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&amp; Hướng phát triển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3657600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7947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shift: chưa thấy DALL-E, Midjourney v6, GPT-4V → dự đoán kém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crop có thể mất tín hiệu ở rìa ảnh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features thủ công có thể bỏ sót dấu hiệu mà deep learning tự học được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kiểm thử với ảnh bị nén JPEG sau khi sinh — thường gặp trên mạng xã hội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3657600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60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8686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298448"/>
            <a:ext cx="37947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generator mới (DALL-E, Flux) để tăng khả năng tổng quát hóa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đặc trưng thủ công với CNN features (hybrid approach)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nghiệm với ảnh bị nén JPEG để kiểm tra độ bền thực tế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tốc độ trích đặc trưng bằng pipeline song song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kern="0" spc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— Real-time AI Image Detection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 ảnh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32461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Tiền xử lý tự động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32461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Trích 57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32461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Predict Real / Fake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3246120"/>
          </a:xfrm>
          <a:prstGeom prst="rect">
            <a:avLst/>
          </a:prstGeom>
          <a:solidFill>
            <a:srgbClr val="0A1628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chính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8138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tiền xử lý hoàn chỉnh: 88.000 ảnh → 86.326 ảnh chuẩn hóa (98,1% giữ lại), EXIF fake = 0%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57 đặc trưng thủ công từ 5 nhóm (FFT, GLCM, Residual, Color, Stats) — có thể giải thích được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~80% accuracy / AUC 0.88  |  XGBoost: ~86% accuracy / AUC 0.94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và tài liệu hóa hạn chế domain shift — cơ sở cho nghiên cứu tiếp theo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demo real-time với pipeline nhất quán hoàn toàn với quá trình huấn luyện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050F1A"/>
          </a:solidFill>
          <a:ln w="12700">
            <a:solidFill>
              <a:srgbClr val="05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 và các bạn đã lắng nghe!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Văn Minh  •  Lỗ Anh Việt  •  Học phần Tiền xử lý dữ liệu  •  ĐH Thủy Lợi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1527</Words>
  <Application>Microsoft Office PowerPoint</Application>
  <PresentationFormat>On-screen Show (16:9)</PresentationFormat>
  <Paragraphs>294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Image Detector — Tiền xử lý dữ liệu</dc:title>
  <dc:subject>PptxGenJS Presentation</dc:subject>
  <dc:creator>PptxGenJS</dc:creator>
  <cp:lastModifiedBy>user835</cp:lastModifiedBy>
  <cp:revision>2</cp:revision>
  <dcterms:created xsi:type="dcterms:W3CDTF">2026-03-29T02:34:16Z</dcterms:created>
  <dcterms:modified xsi:type="dcterms:W3CDTF">2026-03-29T03:10:11Z</dcterms:modified>
</cp:coreProperties>
</file>